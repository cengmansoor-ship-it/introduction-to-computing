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6" r:id="rId3"/>
  </p:sldMasterIdLst>
  <p:notesMasterIdLst>
    <p:notesMasterId r:id="rId20"/>
  </p:notesMasterIdLst>
  <p:sldIdLst>
    <p:sldId id="376" r:id="rId4"/>
    <p:sldId id="389" r:id="rId5"/>
    <p:sldId id="378" r:id="rId6"/>
    <p:sldId id="256" r:id="rId7"/>
    <p:sldId id="257" r:id="rId8"/>
    <p:sldId id="390" r:id="rId9"/>
    <p:sldId id="258" r:id="rId10"/>
    <p:sldId id="392" r:id="rId11"/>
    <p:sldId id="393" r:id="rId12"/>
    <p:sldId id="394" r:id="rId13"/>
    <p:sldId id="395" r:id="rId14"/>
    <p:sldId id="397" r:id="rId15"/>
    <p:sldId id="398" r:id="rId16"/>
    <p:sldId id="396" r:id="rId17"/>
    <p:sldId id="399" r:id="rId18"/>
    <p:sldId id="40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DCFA6-6969-4080-A2AA-8868D27EB820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C7144-84B2-4C9A-A171-C567D7638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78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498D-6977-40EC-8E5E-7EB644D5E75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07EC-5785-491C-B413-FE0E1C3B7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EF698-D910-4DEA-8F5B-E516C4AC9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D42F-B6F3-4207-AEFA-09CCB86B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D94F1-D0CC-4535-AEEA-83061938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3888-9852-4AC8-BF57-1DA4E63D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38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4491-F28A-458A-BCDE-239722B4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E882E-89E5-4A2D-9E5A-211A2215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EFB9-345C-4AB8-B26A-32EE6E98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7D1FE-44EE-4317-A90B-436C0904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DF70-ED68-4992-92C7-9823E6FF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1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0361-B932-4C8E-BD88-A06A7587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4C831-DDEB-4DAC-BFEC-583AFD82A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BD0F6-0D26-41AE-A834-3862E497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F680-BBFE-4DA6-981B-2D8E6882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9D40A-5098-43C1-BF79-3645FFBA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A5DA-8222-4A58-9E47-D9D97200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F953-03F2-4A46-9099-4A8FE929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9EE9F-189E-40F3-B177-4321B68E6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879FA-7E43-4DD5-9704-4C0F5656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4C06-654D-4C47-91C0-C621932A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116C6-03D8-422F-987C-C1D6A23F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ABD6-2F7E-42E6-AE83-D9827993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EC9C7-984B-47CA-B459-B4EF1B6C3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3BBF4-A78E-40C2-95F1-ED43A24E5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4B9A7-F85D-4095-8D26-9C16515E3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85EDB-5973-4960-9C66-F5C48C10E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89D93-13EC-4566-BE8C-A32562AF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3B3E6-62CD-4A88-B2E8-B98F5E46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F96DF-4418-42EF-BAD5-4A0A0F7E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7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1D2D-0400-4B93-8CC0-77B744FE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46AB7-EC86-4A8E-B078-5C0933B4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266D7-86D4-4C06-8A09-0D485AA7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E88D2-E33B-4E03-A86F-23ABFEB8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8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1EBF2-DA71-4E22-9C45-251C89C5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4188E-7BD0-4F15-9E86-AF2791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64EC0-1587-4941-98D0-F3A3BF1B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2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2A0B-9916-4E42-B361-945F1643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3729-FA1F-4238-B543-1146671DC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73DAD-70CA-447F-AED9-B806BEF8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B744E-5419-4EEB-8664-0243554D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89125-EA0C-4010-A0CA-B7923A4A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76B40-CB17-47A2-B698-72A8B4E1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2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6322-E40F-459F-9D95-CAEF436A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51BFE-9BE5-4809-AA30-DE63005DD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0CF98-0FA9-4320-84D2-30C2B6C77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D7E6E-76B8-48E0-B370-C5D7095F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02000-7451-4981-982B-50E291E6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81EAF-CC2F-4173-BDD9-47E153CA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9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61E-C5A9-43A1-8FA8-F3A1120B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AAA35-E0D6-4431-A2D0-27F72C00F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E712-17E0-4536-9733-9713CF5A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0248E-3297-43E9-9CDC-45978B9A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8281F-89C8-4DA4-8159-32F7077B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1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126A2-1DD3-41D7-B352-B8DC0D6E0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790DC-680B-49C8-AE9A-E54AC782A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8A69C-7ADD-43F2-B903-FBD56406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DE3F-86A6-4F20-AB62-28CECF35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1779-E3DF-46D4-904C-A4DD24C7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88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2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998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6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5998" b="1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7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855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23493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2" y="71565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9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399" cap="none" spc="0" baseline="0">
                <a:solidFill>
                  <a:schemeClr val="accent1"/>
                </a:solidFill>
                <a:latin typeface="+mn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9" y="3348617"/>
            <a:ext cx="2699066" cy="2569866"/>
          </a:xfrm>
        </p:spPr>
        <p:txBody>
          <a:bodyPr lIns="91440" tIns="0">
            <a:normAutofit/>
          </a:bodyPr>
          <a:lstStyle>
            <a:lvl1pPr marL="274238" indent="-274238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238" indent="-274238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7" y="5060317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01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58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42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799"/>
              </a:spcAft>
              <a:buNone/>
              <a:defRPr sz="1400"/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3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57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1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4" y="1894378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9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3" y="1894378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tx2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8" y="3989407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3" y="1894378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tx2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6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4" y="1894378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tx2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6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492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1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100" y="286605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5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3" y="1894378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accent1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8" y="3989407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3" y="1894378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accent1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6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4" y="1894378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799"/>
              </a:spcAft>
              <a:buNone/>
              <a:defRPr sz="2399">
                <a:solidFill>
                  <a:schemeClr val="accent1"/>
                </a:solidFill>
                <a:latin typeface="+mj-lt"/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6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/>
            </a:lvl2pPr>
            <a:lvl3pPr marL="383933" indent="0">
              <a:buNone/>
              <a:defRPr sz="1200"/>
            </a:lvl3pPr>
            <a:lvl4pPr marL="566758" indent="0">
              <a:buNone/>
              <a:defRPr sz="1200"/>
            </a:lvl4pPr>
            <a:lvl5pPr marL="749583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71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4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6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399" cap="none" spc="0" baseline="0">
                <a:solidFill>
                  <a:schemeClr val="accent1"/>
                </a:solidFill>
                <a:latin typeface="+mn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3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1999">
                <a:solidFill>
                  <a:schemeClr val="accent1"/>
                </a:solidFill>
              </a:defRPr>
            </a:lvl1pPr>
            <a:lvl2pPr marL="274238" indent="-274238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9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>
                <a:solidFill>
                  <a:schemeClr val="bg1"/>
                </a:solidFill>
              </a:defRPr>
            </a:lvl2pPr>
            <a:lvl3pPr marL="383933" indent="0">
              <a:buNone/>
              <a:defRPr sz="1200">
                <a:solidFill>
                  <a:schemeClr val="bg1"/>
                </a:solidFill>
              </a:defRPr>
            </a:lvl3pPr>
            <a:lvl4pPr marL="566758" indent="0">
              <a:buNone/>
              <a:defRPr sz="1200">
                <a:solidFill>
                  <a:schemeClr val="bg1"/>
                </a:solidFill>
              </a:defRPr>
            </a:lvl4pPr>
            <a:lvl5pPr marL="749583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7" y="5060317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7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1999">
                <a:solidFill>
                  <a:schemeClr val="accent1"/>
                </a:solidFill>
              </a:defRPr>
            </a:lvl1pPr>
            <a:lvl2pPr marL="274238" indent="-274238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80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>
                <a:solidFill>
                  <a:schemeClr val="bg1"/>
                </a:solidFill>
              </a:defRPr>
            </a:lvl2pPr>
            <a:lvl3pPr marL="383933" indent="0">
              <a:buNone/>
              <a:defRPr sz="1200">
                <a:solidFill>
                  <a:schemeClr val="bg1"/>
                </a:solidFill>
              </a:defRPr>
            </a:lvl3pPr>
            <a:lvl4pPr marL="566758" indent="0">
              <a:buNone/>
              <a:defRPr sz="1200">
                <a:solidFill>
                  <a:schemeClr val="bg1"/>
                </a:solidFill>
              </a:defRPr>
            </a:lvl4pPr>
            <a:lvl5pPr marL="749583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20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1999">
                <a:solidFill>
                  <a:schemeClr val="accent1"/>
                </a:solidFill>
              </a:defRPr>
            </a:lvl1pPr>
            <a:lvl2pPr marL="274238" indent="-274238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08" indent="0">
              <a:buNone/>
              <a:defRPr sz="1200">
                <a:solidFill>
                  <a:schemeClr val="bg1"/>
                </a:solidFill>
              </a:defRPr>
            </a:lvl2pPr>
            <a:lvl3pPr marL="383933" indent="0">
              <a:buNone/>
              <a:defRPr sz="1200">
                <a:solidFill>
                  <a:schemeClr val="bg1"/>
                </a:solidFill>
              </a:defRPr>
            </a:lvl3pPr>
            <a:lvl4pPr marL="566758" indent="0">
              <a:buNone/>
              <a:defRPr sz="1200">
                <a:solidFill>
                  <a:schemeClr val="bg1"/>
                </a:solidFill>
              </a:defRPr>
            </a:lvl4pPr>
            <a:lvl5pPr marL="749583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12081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398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399">
                <a:solidFill>
                  <a:schemeClr val="tx1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544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398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399"/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8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398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399">
                <a:solidFill>
                  <a:schemeClr val="tx1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45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398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399">
                <a:solidFill>
                  <a:schemeClr val="tx1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54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2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599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3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80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3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80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3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80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3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399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80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3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398" b="0" spc="100" baseline="-25000">
                <a:solidFill>
                  <a:schemeClr val="tx2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80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399">
                <a:solidFill>
                  <a:schemeClr val="tx1"/>
                </a:solidFill>
              </a:defRPr>
            </a:lvl1pPr>
            <a:lvl2pPr marL="201108" indent="0">
              <a:buNone/>
              <a:defRPr/>
            </a:lvl2pPr>
            <a:lvl3pPr marL="383933" indent="0">
              <a:buNone/>
              <a:defRPr/>
            </a:lvl3pPr>
            <a:lvl4pPr marL="566758" indent="0">
              <a:buNone/>
              <a:defRPr/>
            </a:lvl4pPr>
            <a:lvl5pPr marL="749583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2" y="6290776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7" y="629077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45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70" y="2244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7" y="1679218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998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8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60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238" indent="-274238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238" indent="-274238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09753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4583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434250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37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5640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9089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819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400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406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703095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236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3578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1137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658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2227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506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3F8137-FBB2-4836-8AEB-4418B734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ECA4C-5A2F-4733-836F-C095AF98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344A-154C-4846-967C-3FA6D8299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6F73B-A81E-4521-A9FC-6B1B6DE5840F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71640-EF46-4927-AD55-821C6B230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CE35-8CDE-45C5-BCDF-724215B99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8A88F-BCC7-4252-9637-E8ED424B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1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3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6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7" y="6221326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5998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9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1484" y="820803"/>
            <a:ext cx="4699825" cy="2578380"/>
          </a:xfrm>
        </p:spPr>
        <p:txBody>
          <a:bodyPr>
            <a:normAutofit/>
          </a:bodyPr>
          <a:lstStyle/>
          <a:p>
            <a:pPr algn="ctr"/>
            <a:r>
              <a:rPr lang="en-US" sz="5398" dirty="0"/>
              <a:t>Introduction to computing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7883" y="5248361"/>
            <a:ext cx="4322300" cy="1008662"/>
          </a:xfrm>
        </p:spPr>
        <p:txBody>
          <a:bodyPr/>
          <a:lstStyle/>
          <a:p>
            <a:r>
              <a:rPr lang="en-US" dirty="0"/>
              <a:t>Presentation by: </a:t>
            </a:r>
          </a:p>
          <a:p>
            <a:r>
              <a:rPr lang="en-US" dirty="0"/>
              <a:t>T.Enayatullahmansoor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9008" y="3373531"/>
            <a:ext cx="4322300" cy="1008663"/>
          </a:xfrm>
        </p:spPr>
        <p:txBody>
          <a:bodyPr/>
          <a:lstStyle/>
          <a:p>
            <a:r>
              <a:rPr lang="en-US" dirty="0"/>
              <a:t>101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45311" y="14198"/>
            <a:ext cx="2552415" cy="6857055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pPr defTabSz="914126"/>
            <a:endParaRPr lang="en-US" sz="1799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82" descr="A person writing at a desk&#10;">
            <a:extLst>
              <a:ext uri="{FF2B5EF4-FFF2-40B4-BE49-F238E27FC236}">
                <a16:creationId xmlns:a16="http://schemas.microsoft.com/office/drawing/2014/main" id="{79723FB2-CDBE-ABDD-9BC6-1E8D5204E7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047905" y="-155391"/>
            <a:ext cx="5024825" cy="6858000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6732237" cy="1017147"/>
          </a:xfrm>
        </p:spPr>
        <p:txBody>
          <a:bodyPr>
            <a:noAutofit/>
          </a:bodyPr>
          <a:lstStyle/>
          <a:p>
            <a:r>
              <a:rPr lang="en-US" dirty="0"/>
              <a:t>What is CS ?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BC786-DACF-D63D-553F-4EDB8E95A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242" y="1749479"/>
            <a:ext cx="788639" cy="533400"/>
          </a:xfrm>
        </p:spPr>
        <p:txBody>
          <a:bodyPr/>
          <a:lstStyle/>
          <a:p>
            <a:r>
              <a:rPr lang="en-US" dirty="0"/>
              <a:t>o1.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3379" y="1749479"/>
            <a:ext cx="5885179" cy="533400"/>
          </a:xfrm>
        </p:spPr>
        <p:txBody>
          <a:bodyPr/>
          <a:lstStyle/>
          <a:p>
            <a:r>
              <a:rPr lang="en-US" dirty="0"/>
              <a:t>Engineering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880F1A-5BCC-F84F-3EED-7FA660DEB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242" y="2378035"/>
            <a:ext cx="788639" cy="533400"/>
          </a:xfrm>
        </p:spPr>
        <p:txBody>
          <a:bodyPr/>
          <a:lstStyle/>
          <a:p>
            <a:r>
              <a:rPr lang="en-US" dirty="0"/>
              <a:t>o2.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A9475A-A652-4BB2-F82D-18D978C397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3379" y="2378035"/>
            <a:ext cx="5885179" cy="533400"/>
          </a:xfrm>
        </p:spPr>
        <p:txBody>
          <a:bodyPr/>
          <a:lstStyle/>
          <a:p>
            <a:r>
              <a:rPr lang="en-US" dirty="0"/>
              <a:t>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A4606E-0589-2AE6-3A39-D84CDB248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242" y="3006909"/>
            <a:ext cx="788639" cy="533400"/>
          </a:xfrm>
        </p:spPr>
        <p:txBody>
          <a:bodyPr/>
          <a:lstStyle/>
          <a:p>
            <a:r>
              <a:rPr lang="en-US" dirty="0"/>
              <a:t>o3.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E5E134-360B-2943-34EC-C57477A8C8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3379" y="3009613"/>
            <a:ext cx="5885179" cy="533400"/>
          </a:xfrm>
        </p:spPr>
        <p:txBody>
          <a:bodyPr/>
          <a:lstStyle/>
          <a:p>
            <a:r>
              <a:rPr lang="en-US" dirty="0"/>
              <a:t>Science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E7CD20-3130-C2BD-2379-6EB766F556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242" y="3635783"/>
            <a:ext cx="788639" cy="533400"/>
          </a:xfrm>
        </p:spPr>
        <p:txBody>
          <a:bodyPr/>
          <a:lstStyle/>
          <a:p>
            <a:r>
              <a:rPr lang="en-US" dirty="0"/>
              <a:t>o4.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7F6B17-F299-A158-A26D-47FCD7A197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3379" y="3638169"/>
            <a:ext cx="5885179" cy="533400"/>
          </a:xfrm>
        </p:spPr>
        <p:txBody>
          <a:bodyPr/>
          <a:lstStyle/>
          <a:p>
            <a:r>
              <a:rPr lang="en-US" dirty="0"/>
              <a:t>Computer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C4E845-9A78-36A5-60F3-A22DFD9382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242" y="4264656"/>
            <a:ext cx="788639" cy="533400"/>
          </a:xfrm>
        </p:spPr>
        <p:txBody>
          <a:bodyPr/>
          <a:lstStyle/>
          <a:p>
            <a:r>
              <a:rPr lang="en-US" dirty="0"/>
              <a:t>o5.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5FE4BA-08C1-FBA0-844E-67EA006290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379" y="4269747"/>
            <a:ext cx="5885179" cy="533400"/>
          </a:xfrm>
        </p:spPr>
        <p:txBody>
          <a:bodyPr/>
          <a:lstStyle/>
          <a:p>
            <a:r>
              <a:rPr lang="en-US" dirty="0"/>
              <a:t>Computer science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597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5708" y="2431477"/>
            <a:ext cx="4786877" cy="763899"/>
          </a:xfrm>
        </p:spPr>
        <p:txBody>
          <a:bodyPr/>
          <a:lstStyle/>
          <a:p>
            <a:r>
              <a:rPr lang="en-US" dirty="0"/>
              <a:t>This is the CORE technologies</a:t>
            </a:r>
          </a:p>
          <a:p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5708" y="3348617"/>
            <a:ext cx="2699066" cy="2569866"/>
          </a:xfrm>
        </p:spPr>
        <p:txBody>
          <a:bodyPr>
            <a:normAutofit/>
          </a:bodyPr>
          <a:lstStyle/>
          <a:p>
            <a:r>
              <a:rPr lang="en-US" dirty="0"/>
              <a:t>System administration</a:t>
            </a:r>
          </a:p>
          <a:p>
            <a:r>
              <a:rPr lang="en-US" dirty="0"/>
              <a:t>Computer architecture</a:t>
            </a:r>
          </a:p>
          <a:p>
            <a:r>
              <a:rPr lang="en-US" dirty="0"/>
              <a:t>Operating system</a:t>
            </a:r>
          </a:p>
          <a:p>
            <a:r>
              <a:rPr lang="en-US" dirty="0"/>
              <a:t>Web engineering</a:t>
            </a:r>
          </a:p>
          <a:p>
            <a:r>
              <a:rPr lang="en-US" dirty="0"/>
              <a:t>DS &amp; algorithm</a:t>
            </a:r>
          </a:p>
          <a:p>
            <a:r>
              <a:rPr lang="en-US" dirty="0"/>
              <a:t>Network</a:t>
            </a:r>
          </a:p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A2831E7-BB68-4B29-BFAE-D59B5C0CEA7C}"/>
              </a:ext>
            </a:extLst>
          </p:cNvPr>
          <p:cNvSpPr txBox="1">
            <a:spLocks/>
          </p:cNvSpPr>
          <p:nvPr/>
        </p:nvSpPr>
        <p:spPr>
          <a:xfrm>
            <a:off x="9262919" y="3684946"/>
            <a:ext cx="2699066" cy="2569866"/>
          </a:xfrm>
          <a:prstGeom prst="rect">
            <a:avLst/>
          </a:prstGeom>
        </p:spPr>
        <p:txBody>
          <a:bodyPr vert="horz" lIns="91440" tIns="0" rIns="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FBA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RDBMS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FBA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NoSQL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FBA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Machine learning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FBA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2763-96FD-468F-839D-7A2655141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0FB30-2D37-4889-ADBB-C81B0799FD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0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5C4C-E9D1-46DD-86AD-99F8F614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53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82" descr="A person writing at a desk&#10;">
            <a:extLst>
              <a:ext uri="{FF2B5EF4-FFF2-40B4-BE49-F238E27FC236}">
                <a16:creationId xmlns:a16="http://schemas.microsoft.com/office/drawing/2014/main" id="{79723FB2-CDBE-ABDD-9BC6-1E8D5204E7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047905" y="-155391"/>
            <a:ext cx="5024825" cy="6858000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6732237" cy="101714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Bahnschrift SemiBold Condensed" panose="020B0502040204020203" pitchFamily="34" charset="0"/>
              </a:rPr>
              <a:t>Abstraction</a:t>
            </a:r>
            <a:r>
              <a:rPr lang="en-US" dirty="0"/>
              <a:t> 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BC786-DACF-D63D-553F-4EDB8E95A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242" y="1749479"/>
            <a:ext cx="788639" cy="533400"/>
          </a:xfrm>
        </p:spPr>
        <p:txBody>
          <a:bodyPr/>
          <a:lstStyle/>
          <a:p>
            <a:r>
              <a:rPr lang="en-US" dirty="0"/>
              <a:t>o1.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3379" y="1749479"/>
            <a:ext cx="5885179" cy="533400"/>
          </a:xfrm>
        </p:spPr>
        <p:txBody>
          <a:bodyPr/>
          <a:lstStyle/>
          <a:p>
            <a:r>
              <a:rPr lang="en-US" dirty="0"/>
              <a:t>API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880F1A-5BCC-F84F-3EED-7FA660DEB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242" y="2378035"/>
            <a:ext cx="788639" cy="533400"/>
          </a:xfrm>
        </p:spPr>
        <p:txBody>
          <a:bodyPr/>
          <a:lstStyle/>
          <a:p>
            <a:r>
              <a:rPr lang="en-US" dirty="0"/>
              <a:t>o2.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A9475A-A652-4BB2-F82D-18D978C397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3379" y="2378035"/>
            <a:ext cx="5885179" cy="533400"/>
          </a:xfrm>
        </p:spPr>
        <p:txBody>
          <a:bodyPr/>
          <a:lstStyle/>
          <a:p>
            <a:r>
              <a:rPr lang="en-US" dirty="0"/>
              <a:t>Super computer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A4606E-0589-2AE6-3A39-D84CDB248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242" y="3006909"/>
            <a:ext cx="788639" cy="533400"/>
          </a:xfrm>
        </p:spPr>
        <p:txBody>
          <a:bodyPr/>
          <a:lstStyle/>
          <a:p>
            <a:r>
              <a:rPr lang="en-US" dirty="0"/>
              <a:t>o3.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E5E134-360B-2943-34EC-C57477A8C8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3379" y="3009613"/>
            <a:ext cx="5885179" cy="533400"/>
          </a:xfrm>
        </p:spPr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E7CD20-3130-C2BD-2379-6EB766F556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242" y="3635783"/>
            <a:ext cx="788639" cy="533400"/>
          </a:xfrm>
        </p:spPr>
        <p:txBody>
          <a:bodyPr/>
          <a:lstStyle/>
          <a:p>
            <a:r>
              <a:rPr lang="en-US" dirty="0"/>
              <a:t>o4.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7F6B17-F299-A158-A26D-47FCD7A197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3379" y="3638169"/>
            <a:ext cx="5885179" cy="533400"/>
          </a:xfrm>
        </p:spPr>
        <p:txBody>
          <a:bodyPr/>
          <a:lstStyle/>
          <a:p>
            <a:r>
              <a:rPr lang="en-US" dirty="0"/>
              <a:t>Container [ virtual machine]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C4E845-9A78-36A5-60F3-A22DFD9382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242" y="4264656"/>
            <a:ext cx="788639" cy="533400"/>
          </a:xfrm>
        </p:spPr>
        <p:txBody>
          <a:bodyPr/>
          <a:lstStyle/>
          <a:p>
            <a:r>
              <a:rPr lang="en-US" dirty="0"/>
              <a:t>o5.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5FE4BA-08C1-FBA0-844E-67EA006290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379" y="4269747"/>
            <a:ext cx="5885179" cy="533400"/>
          </a:xfrm>
        </p:spPr>
        <p:txBody>
          <a:bodyPr/>
          <a:lstStyle/>
          <a:p>
            <a:r>
              <a:rPr lang="en-US" dirty="0"/>
              <a:t>Software testing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77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A01CA-CC15-44B6-8864-C44420AC3A50}"/>
              </a:ext>
            </a:extLst>
          </p:cNvPr>
          <p:cNvSpPr txBox="1"/>
          <p:nvPr/>
        </p:nvSpPr>
        <p:spPr>
          <a:xfrm>
            <a:off x="1076739" y="1497496"/>
            <a:ext cx="6954078" cy="96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Declarative knowledge   {What}   </a:t>
            </a: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 [Abstraction] </a:t>
            </a:r>
          </a:p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Imperative knowledge    {How}    </a:t>
            </a: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 [Algorithm]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4FBEE-A6D7-49FD-816F-7D9540CE65F4}"/>
              </a:ext>
            </a:extLst>
          </p:cNvPr>
          <p:cNvSpPr txBox="1"/>
          <p:nvPr/>
        </p:nvSpPr>
        <p:spPr>
          <a:xfrm>
            <a:off x="838200" y="2966630"/>
            <a:ext cx="695407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800" spc="100" dirty="0">
                <a:latin typeface="Bahnschrift SemiBold Condensed" panose="020B0502040204020203" pitchFamily="34" charset="0"/>
                <a:ea typeface="+mj-ea"/>
                <a:cs typeface="+mj-cs"/>
              </a:rPr>
              <a:t>Some Terminologies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012B5-214A-4391-80D1-7821A1A14D8C}"/>
              </a:ext>
            </a:extLst>
          </p:cNvPr>
          <p:cNvSpPr txBox="1"/>
          <p:nvPr/>
        </p:nvSpPr>
        <p:spPr>
          <a:xfrm>
            <a:off x="1076739" y="3928637"/>
            <a:ext cx="9206948" cy="189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Program/ Software/ Application/ Script/ Shell/ </a:t>
            </a:r>
          </a:p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Programming language [recipes]/ Coding language </a:t>
            </a:r>
          </a:p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Instruction/ Interpreter/ Compiler</a:t>
            </a:r>
          </a:p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Flow of control [working]/ Parameter/  </a:t>
            </a:r>
          </a:p>
        </p:txBody>
      </p:sp>
    </p:spTree>
    <p:extLst>
      <p:ext uri="{BB962C8B-B14F-4D97-AF65-F5344CB8AC3E}">
        <p14:creationId xmlns:p14="http://schemas.microsoft.com/office/powerpoint/2010/main" val="862757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Expressions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A01CA-CC15-44B6-8864-C44420AC3A50}"/>
              </a:ext>
            </a:extLst>
          </p:cNvPr>
          <p:cNvSpPr txBox="1"/>
          <p:nvPr/>
        </p:nvSpPr>
        <p:spPr>
          <a:xfrm>
            <a:off x="1076739" y="1510748"/>
            <a:ext cx="6954078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Operators/ Operands/ Operation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29C83-34D8-4D55-9574-21441A4FC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706" y="2516090"/>
            <a:ext cx="6042587" cy="18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8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Precedence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A01CA-CC15-44B6-8864-C44420AC3A50}"/>
              </a:ext>
            </a:extLst>
          </p:cNvPr>
          <p:cNvSpPr txBox="1"/>
          <p:nvPr/>
        </p:nvSpPr>
        <p:spPr>
          <a:xfrm>
            <a:off x="1076739" y="1510748"/>
            <a:ext cx="6954078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Operators/ Operands/ Operation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29C83-34D8-4D55-9574-21441A4FC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706" y="2516090"/>
            <a:ext cx="6042587" cy="18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8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Undefined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60C72-ED84-451C-BCD4-F3A94AEA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888" y="2179816"/>
            <a:ext cx="8288224" cy="2498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30C55-0473-4CB2-B079-E57135854FE7}"/>
              </a:ext>
            </a:extLst>
          </p:cNvPr>
          <p:cNvSpPr txBox="1"/>
          <p:nvPr/>
        </p:nvSpPr>
        <p:spPr>
          <a:xfrm>
            <a:off x="1285461" y="5247861"/>
            <a:ext cx="494306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           Error</a:t>
            </a:r>
          </a:p>
          <a:p>
            <a:pPr>
              <a:lnSpc>
                <a:spcPct val="150000"/>
              </a:lnSpc>
            </a:pPr>
            <a:r>
              <a:rPr lang="en-US" dirty="0"/>
              <a:t>***Type of error***</a:t>
            </a:r>
          </a:p>
          <a:p>
            <a:pPr>
              <a:lnSpc>
                <a:spcPct val="150000"/>
              </a:lnSpc>
            </a:pPr>
            <a:r>
              <a:rPr lang="en-US" dirty="0"/>
              <a:t>***Error message*** </a:t>
            </a:r>
          </a:p>
        </p:txBody>
      </p:sp>
    </p:spTree>
    <p:extLst>
      <p:ext uri="{BB962C8B-B14F-4D97-AF65-F5344CB8AC3E}">
        <p14:creationId xmlns:p14="http://schemas.microsoft.com/office/powerpoint/2010/main" val="4119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Function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145E6-7005-406D-AF60-40C70BEE8D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31"/>
          <a:stretch/>
        </p:blipFill>
        <p:spPr>
          <a:xfrm>
            <a:off x="838199" y="1540056"/>
            <a:ext cx="6490253" cy="1798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26D0C6-1800-47F6-AF58-C2D404917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18" y="3338708"/>
            <a:ext cx="6384234" cy="13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84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Trace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D2543-EA4F-4114-973F-CF802AC77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0477" y="1470992"/>
            <a:ext cx="10622131" cy="502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2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78B3-0668-4CC5-AE4E-9E9E6E25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Designing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377C6-01F4-42D7-A8E7-AA4348753EE6}"/>
              </a:ext>
            </a:extLst>
          </p:cNvPr>
          <p:cNvSpPr txBox="1"/>
          <p:nvPr/>
        </p:nvSpPr>
        <p:spPr>
          <a:xfrm>
            <a:off x="1205947" y="1664182"/>
            <a:ext cx="8454887" cy="395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800" spc="100" dirty="0">
                <a:latin typeface="Arial Narrow" panose="020B0606020202030204" pitchFamily="34" charset="0"/>
                <a:ea typeface="+mj-ea"/>
                <a:cs typeface="+mj-cs"/>
              </a:rPr>
              <a:t>It's important to design your functions thoughtfully. Some important point points to note: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800" spc="100" dirty="0">
              <a:latin typeface="Arial Narrow" panose="020B0606020202030204" pitchFamily="34" charset="0"/>
              <a:ea typeface="+mj-ea"/>
              <a:cs typeface="+mj-cs"/>
            </a:endParaRPr>
          </a:p>
          <a:p>
            <a:pPr marL="1200150" lvl="2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Functions are </a:t>
            </a:r>
            <a:r>
              <a:rPr lang="en-US" sz="2400" u="sng" spc="100" dirty="0">
                <a:latin typeface="Arial Narrow" panose="020B0606020202030204" pitchFamily="34" charset="0"/>
                <a:ea typeface="+mj-ea"/>
                <a:cs typeface="+mj-cs"/>
              </a:rPr>
              <a:t>abstractions</a:t>
            </a: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. So, there operation should depend as little on the environment as possible.</a:t>
            </a:r>
          </a:p>
          <a:p>
            <a:pPr marL="1200150" lvl="2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sng" spc="100" dirty="0">
                <a:latin typeface="Arial Narrow" panose="020B0606020202030204" pitchFamily="34" charset="0"/>
                <a:ea typeface="+mj-ea"/>
                <a:cs typeface="+mj-cs"/>
              </a:rPr>
              <a:t>Name</a:t>
            </a: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 should be intuitive and meaningful </a:t>
            </a:r>
          </a:p>
          <a:p>
            <a:pPr marL="1200150" lvl="2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sng" spc="100" dirty="0">
                <a:latin typeface="Arial Narrow" panose="020B0606020202030204" pitchFamily="34" charset="0"/>
                <a:ea typeface="+mj-ea"/>
                <a:cs typeface="+mj-cs"/>
              </a:rPr>
              <a:t>Parameter</a:t>
            </a: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 should be named intuitively as well</a:t>
            </a:r>
          </a:p>
          <a:p>
            <a:pPr marL="1200150" lvl="2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Functions should be </a:t>
            </a:r>
            <a:r>
              <a:rPr lang="en-US" sz="2400" u="sng" spc="100" dirty="0">
                <a:latin typeface="Arial Narrow" panose="020B0606020202030204" pitchFamily="34" charset="0"/>
                <a:ea typeface="+mj-ea"/>
                <a:cs typeface="+mj-cs"/>
              </a:rPr>
              <a:t>documented</a:t>
            </a:r>
            <a:r>
              <a:rPr lang="en-US" sz="2400" spc="100" dirty="0">
                <a:latin typeface="Arial Narrow" panose="020B0606020202030204" pitchFamily="34" charset="0"/>
                <a:ea typeface="+mj-ea"/>
                <a:cs typeface="+mj-cs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31590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E78D-6656-439E-A5CB-8346C468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Compound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4F3285-5384-4FBA-AB34-B7FB50B34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364" y="1571418"/>
            <a:ext cx="6465201" cy="47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3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E78D-6656-439E-A5CB-8346C468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9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2) Conditionals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C6024-21B9-4C67-B48C-56038F402813}"/>
              </a:ext>
            </a:extLst>
          </p:cNvPr>
          <p:cNvSpPr txBox="1"/>
          <p:nvPr/>
        </p:nvSpPr>
        <p:spPr>
          <a:xfrm>
            <a:off x="1086679" y="1690688"/>
            <a:ext cx="7898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100" dirty="0">
                <a:latin typeface="Arial Narrow" panose="020B0606020202030204" pitchFamily="34" charset="0"/>
                <a:ea typeface="+mj-ea"/>
                <a:cs typeface="+mj-cs"/>
              </a:rPr>
              <a:t>Also called branching statements. These allow you to make decisions</a:t>
            </a:r>
            <a:r>
              <a:rPr lang="en-US" sz="20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4A827-8ACC-478B-AB25-F0B84BB609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t="6346" r="20747" b="11003"/>
          <a:stretch/>
        </p:blipFill>
        <p:spPr>
          <a:xfrm>
            <a:off x="6096000" y="2849216"/>
            <a:ext cx="4691269" cy="332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3D1178-387A-42E5-BDF0-4840049EE4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0"/>
          <a:stretch/>
        </p:blipFill>
        <p:spPr>
          <a:xfrm>
            <a:off x="1404731" y="3074503"/>
            <a:ext cx="3485321" cy="287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6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E78D-6656-439E-A5CB-8346C468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0" dirty="0">
                <a:latin typeface="Bahnschrift SemiBold Condensed" panose="020B0502040204020203" pitchFamily="34" charset="0"/>
              </a:rPr>
              <a:t>3) Iteration, Repetition, 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C6024-21B9-4C67-B48C-56038F402813}"/>
              </a:ext>
            </a:extLst>
          </p:cNvPr>
          <p:cNvSpPr txBox="1"/>
          <p:nvPr/>
        </p:nvSpPr>
        <p:spPr>
          <a:xfrm>
            <a:off x="1086679" y="1690688"/>
            <a:ext cx="7898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100" dirty="0">
                <a:latin typeface="Arial Narrow" panose="020B0606020202030204" pitchFamily="34" charset="0"/>
                <a:ea typeface="+mj-ea"/>
                <a:cs typeface="+mj-cs"/>
              </a:rPr>
              <a:t>However, that’s a lot of wastage of our time. “A good programmer is lazy programmer!”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4A827-8ACC-478B-AB25-F0B84BB609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t="6346" r="20747" b="11003"/>
          <a:stretch/>
        </p:blipFill>
        <p:spPr>
          <a:xfrm>
            <a:off x="6096000" y="2849216"/>
            <a:ext cx="4691269" cy="332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3D1178-387A-42E5-BDF0-4840049EE4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0"/>
          <a:stretch/>
        </p:blipFill>
        <p:spPr>
          <a:xfrm>
            <a:off x="1404731" y="3074503"/>
            <a:ext cx="3485321" cy="287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8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3.xml><?xml version="1.0" encoding="utf-8"?>
<a:theme xmlns:a="http://schemas.openxmlformats.org/drawingml/2006/main" name="1_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19329</TotalTime>
  <Words>254</Words>
  <Application>Microsoft Office PowerPoint</Application>
  <PresentationFormat>Widescreen</PresentationFormat>
  <Paragraphs>70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Arial Narrow</vt:lpstr>
      <vt:lpstr>Bahnschrift SemiBold Condensed</vt:lpstr>
      <vt:lpstr>Baskerville Old Face</vt:lpstr>
      <vt:lpstr>Book Antiqua</vt:lpstr>
      <vt:lpstr>Calibri</vt:lpstr>
      <vt:lpstr>Calibri Light</vt:lpstr>
      <vt:lpstr>Century Gothic</vt:lpstr>
      <vt:lpstr>Courier New</vt:lpstr>
      <vt:lpstr>Wingdings</vt:lpstr>
      <vt:lpstr>Office Theme</vt:lpstr>
      <vt:lpstr>Custom</vt:lpstr>
      <vt:lpstr>1_Custom</vt:lpstr>
      <vt:lpstr>Introduction to computing</vt:lpstr>
      <vt:lpstr>What is CS ?  </vt:lpstr>
      <vt:lpstr>Big picture</vt:lpstr>
      <vt:lpstr>PowerPoint Presentation</vt:lpstr>
      <vt:lpstr>PowerPoint Presentation</vt:lpstr>
      <vt:lpstr>Abstraction   </vt:lpstr>
      <vt:lpstr>Knowledge</vt:lpstr>
      <vt:lpstr>Expressions</vt:lpstr>
      <vt:lpstr>Precedence</vt:lpstr>
      <vt:lpstr>Undefined variable</vt:lpstr>
      <vt:lpstr>Function definitions</vt:lpstr>
      <vt:lpstr>Trace</vt:lpstr>
      <vt:lpstr>Designing Functions</vt:lpstr>
      <vt:lpstr>Compound Statements</vt:lpstr>
      <vt:lpstr>2) Conditionals</vt:lpstr>
      <vt:lpstr>3) Iteration, Repetition, Loops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</dc:title>
  <dc:creator>MRT www.Win2Farsi.com</dc:creator>
  <cp:lastModifiedBy>MRT www.Win2Farsi.com</cp:lastModifiedBy>
  <cp:revision>18</cp:revision>
  <dcterms:created xsi:type="dcterms:W3CDTF">2025-02-18T18:42:15Z</dcterms:created>
  <dcterms:modified xsi:type="dcterms:W3CDTF">2025-03-09T01:36:35Z</dcterms:modified>
</cp:coreProperties>
</file>